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8FAFC"/>
                </a:solidFill>
                <a:latin typeface="Segoe UI"/>
              </a:defRPr>
            </a:pPr>
            <a:r>
              <a:t>PAIMANA AI</a:t>
            </a:r>
          </a:p>
          <a:p>
            <a:pPr>
              <a:defRPr sz="2200">
                <a:solidFill>
                  <a:srgbClr val="38BDF8"/>
                </a:solidFill>
                <a:latin typeface="Segoe UI"/>
              </a:defRPr>
            </a:pPr>
            <a:r>
              <a:t>AI-Powered Infrastructure Risk Monitoring &amp; Predictive Intervention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1069848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Ministry: Ministry of Statistics and Programme Implementation (MoSPI) · IPMD</a:t>
            </a:r>
          </a:p>
          <a:p>
            <a:pPr>
              <a:defRPr sz="1300">
                <a:solidFill>
                  <a:srgbClr val="F59E0B"/>
                </a:solidFill>
              </a:defRPr>
            </a:pPr>
            <a:r>
              <a:t>Smart India Hackathon (SIH 2026) · Problem Statement: SIH26103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Core Tech: Gradient Boosted Trees (Model B) · Genuine SHAP TreeExplainer · Counterfactual What-If Simulator · Offline-First Field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PAIMANA AI · SMART INDIA HACKATHON 26103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National Challenge: Mega-Infrastructure Delays &amp; Cost Overruns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1. Ground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38BDF8"/>
                </a:solidFill>
              </a:rPr>
              <a:t>Massive Scale: </a:t>
            </a:r>
            <a:r>
              <a:rPr sz="1200">
                <a:solidFill>
                  <a:srgbClr val="94A3B8"/>
                </a:solidFill>
              </a:rPr>
              <a:t>MoSPI monitors Central Sector Projects (₹150 Cr+) across Highways, Railways, Bridges, and Power.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38BDF8"/>
                </a:solidFill>
              </a:rPr>
              <a:t>Chronic Delays: </a:t>
            </a:r>
            <a:r>
              <a:rPr sz="1200">
                <a:solidFill>
                  <a:srgbClr val="94A3B8"/>
                </a:solidFill>
              </a:rPr>
              <a:t>Average schedule slippage of 30 to 45 months beyond sanctioned completion dates.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38BDF8"/>
                </a:solidFill>
              </a:rPr>
              <a:t>Cost Drift: </a:t>
            </a:r>
            <a:r>
              <a:rPr sz="1200">
                <a:solidFill>
                  <a:srgbClr val="94A3B8"/>
                </a:solidFill>
              </a:rPr>
              <a:t>Cumulative cost overruns of 18%–24% across unmonitored infrastructure packages.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2. The Root Bottlenecks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EF4444"/>
                </a:solidFill>
              </a:rPr>
              <a:t>Paper-Driven MPRs: </a:t>
            </a:r>
            <a:r>
              <a:rPr sz="1200">
                <a:solidFill>
                  <a:srgbClr val="94A3B8"/>
                </a:solidFill>
              </a:rPr>
              <a:t>Monthly progress reports arrive 30+ days late — purely retrospective.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F4444"/>
                </a:solidFill>
              </a:rPr>
              <a:t>Disbursement Fraud: </a:t>
            </a:r>
            <a:r>
              <a:rPr sz="1200">
                <a:solidFill>
                  <a:srgbClr val="94A3B8"/>
                </a:solidFill>
              </a:rPr>
              <a:t>Running Account (RA) bills paid out without verified ground cross-section audits.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F4444"/>
                </a:solidFill>
              </a:rPr>
              <a:t>Opaque Subcontracting: </a:t>
            </a:r>
            <a:r>
              <a:rPr sz="1200">
                <a:solidFill>
                  <a:srgbClr val="94A3B8"/>
                </a:solidFill>
              </a:rPr>
              <a:t>Multi-tier petty sub-letting creates invisible labor and wage bottlenecks.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F4444"/>
                </a:solidFill>
              </a:rPr>
              <a:t>Unresolved Litigations: </a:t>
            </a:r>
            <a:r>
              <a:rPr sz="1200">
                <a:solidFill>
                  <a:srgbClr val="94A3B8"/>
                </a:solidFill>
              </a:rPr>
              <a:t>Right-of-Way (RoW) disputes stall construction without prompt administrative notice.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3. The PAIMANA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</a:rPr>
              <a:t>Anticipatory ML: </a:t>
            </a:r>
            <a:r>
              <a:rPr sz="1200">
                <a:solidFill>
                  <a:srgbClr val="94A3B8"/>
                </a:solidFill>
              </a:rPr>
              <a:t>Predicts delays 6 months before milestones slip using 12 friction signals.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</a:rPr>
              <a:t>Zero Black-Box Opacity: </a:t>
            </a:r>
            <a:r>
              <a:rPr sz="1200">
                <a:solidFill>
                  <a:srgbClr val="94A3B8"/>
                </a:solidFill>
              </a:rPr>
              <a:t>100% mathematically reconciled SHAP attribution explaining every point.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</a:rPr>
              <a:t>Policy Simulation: </a:t>
            </a:r>
            <a:r>
              <a:rPr sz="1200">
                <a:solidFill>
                  <a:srgbClr val="94A3B8"/>
                </a:solidFill>
              </a:rPr>
              <a:t>Counterfactual 'What-If' engine testing intervention ROI before spending capital.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</a:rPr>
              <a:t>Closed-Loop Telemetry: </a:t>
            </a:r>
            <a:r>
              <a:rPr sz="1200">
                <a:solidFill>
                  <a:srgbClr val="94A3B8"/>
                </a:solidFill>
              </a:rPr>
              <a:t>Offline-first mobile logging directly from remote chainage site engineers.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PAIMANA AI · SMART INDIA HACKATHON 26103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System Architecture: Decoupled, Robust &amp; Enterprise-Ready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1. Ground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Field Officer Mobile PWA</a:t>
            </a:r>
            <a:br/>
            <a:br/>
            <a:r>
              <a:t>• Daily telemetry intake</a:t>
            </a:r>
            <a:br/>
            <a:r>
              <a:t>• Work Status (Running/Stalled/Off)</a:t>
            </a:r>
            <a:br/>
            <a:r>
              <a:t>• Material inventory &amp; consumption</a:t>
            </a:r>
            <a:br/>
            <a:r>
              <a:t>• Geotagged site photo proof</a:t>
            </a:r>
            <a:br/>
            <a:r>
              <a:t>• Offline localStorage queue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46304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600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2. Cloud Persistence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10312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Supabase PostgreSQL 15</a:t>
            </a:r>
            <a:br/>
            <a:br/>
            <a:r>
              <a:t>• 6 Strongly-typed tables</a:t>
            </a:r>
            <a:br/>
            <a:r>
              <a:t>• Role-Based Access Control (RLS)</a:t>
            </a:r>
            <a:br/>
            <a:r>
              <a:t>• High-concurrency indices</a:t>
            </a:r>
            <a:br/>
            <a:r>
              <a:t>• Real-time database streams</a:t>
            </a:r>
            <a:br/>
            <a:r>
              <a:t>• Secure JWT Auth Handshake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00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3. Predictive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Python FastAPI &amp; Model B</a:t>
            </a:r>
            <a:br/>
            <a:br/>
            <a:r>
              <a:t>• XGBRegressor &amp; XGBClassifier</a:t>
            </a:r>
            <a:br/>
            <a:r>
              <a:t>• SHAP TreeExplainer</a:t>
            </a:r>
            <a:br/>
            <a:r>
              <a:t>• Feature enrichment pipeline</a:t>
            </a:r>
            <a:br/>
            <a:r>
              <a:t>• Two-Tier dynamic project lookup</a:t>
            </a:r>
            <a:br/>
            <a:r>
              <a:t>• Batch write-back sync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46304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600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4. Executive Shell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10312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Vite + React 18 Web App</a:t>
            </a:r>
            <a:br/>
            <a:br/>
            <a:r>
              <a:t>• MoSPI Executive Dashboard</a:t>
            </a:r>
            <a:br/>
            <a:r>
              <a:t>• Priority Intervention Queue</a:t>
            </a:r>
            <a:br/>
            <a:r>
              <a:t>• Cross-sector Benchmarking</a:t>
            </a:r>
            <a:br/>
            <a:r>
              <a:t>• Clause 14.2 Billing Alerts</a:t>
            </a:r>
            <a:br/>
            <a:r>
              <a:t>• What-If Counterfactual Sandbox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PAIMANA AI · SMART INDIA HACKATHON 26103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MoSPI Executive View: Portfolio Governance &amp; Real-Time Situational Awareness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1. Central Executive Dashboard (/dashboard)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Executive KPI Strip: Total monitored projects, High-Risk packages, Time overrun probability, and cumulative Cost Drift Exposure.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Sector Breakdown: Instant filtering across Roads, Railways, Bridges, and Power corridors.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Proportional Risk Bar: Dynamic distribution into High Risk (Red &gt;= 66), Watch List (Amber 34-65), and On Track (Green &lt;= 33).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Priority Watch Table: Instant visibility into physical milestone deficits vs financial burn rate.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One-Click Drilldown: Direct navigation to granular project diagnostics.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2. Project Diagnostics (/projects/:id)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Radial Risk Gauge: Instant visual gauge showing composite risk score (0-100).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Days Flagged Counter: Tracks persistent bottleneck severity over reporting cycles.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6-Month Historical Risk Curve: Interactive trend chart showing risk velocity.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Automated Policy Recommendations: Generates legally actionable contract interventions under FIDIC/MoRTH Clause 14.2.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Priority Queue (/priority-queue): Automated urgency ranking for Public Investment Board (PIB) escalations.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PAIMANA AI · SMART INDIA HACKATHON 26103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Genuine SHAP Explainability Engine: No Black-Box Opacity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Mathematical Reconciliation Guarantee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base_value + Σ SHAP_i = raw_prediction   (Exact to 10^-5 floating precision)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Every displayed factor traces directly to a real explainer.shap_values() calculation on trained XGBoost decision trees. Zero hardcoded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512064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Dual-Mode Attribution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50">
                <a:solidFill>
                  <a:srgbClr val="38BDF8"/>
                </a:solidFill>
              </a:rPr>
              <a:t>Risk Escalation Mode (pred &gt;= base_value): </a:t>
            </a:r>
            <a:r>
              <a:rPr sz="1150">
                <a:solidFill>
                  <a:srgbClr val="94A3B8"/>
                </a:solidFill>
              </a:rPr>
              <a:t>Ranks positive SHAP features driving troubled projects (e.g. NH-4471, Risk 95) toward failure.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38BDF8"/>
                </a:solidFill>
              </a:rPr>
              <a:t>Protective Mode (pred &lt; base_value): </a:t>
            </a:r>
            <a:r>
              <a:rPr sz="1150">
                <a:solidFill>
                  <a:srgbClr val="94A3B8"/>
                </a:solidFill>
              </a:rPr>
              <a:t>Ranks negative SHAP features pulling stable projects (e.g. RW-8802, Risk 18) below population baseline.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38BDF8"/>
                </a:solidFill>
              </a:rPr>
              <a:t>Executive Value: </a:t>
            </a:r>
            <a:r>
              <a:rPr sz="1150">
                <a:solidFill>
                  <a:srgbClr val="94A3B8"/>
                </a:solidFill>
              </a:rPr>
              <a:t>Provides actionable best practices that can be audited and transferred across corridors.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52120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063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Key Friction Signals Identified by SHAP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1. Billing Progress Mismatch (%): Financial claims outpacing physical work (+10.8 pts).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2. Land Clearance Disputes: Right-of-Way legal litigation along chainage (+9.2 pts).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3. Payment Delay Days: Disbursement lag straining contractor working capital.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4. Subcontracting Depth: Excessive multi-tier petty sub-letting fragmentation.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5. Design Scope Revisions: Repeated alignment and structural redesign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PAIMANA AI · SMART INDIA HACKATHON 26103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What-If Simulator: Counterfactual Policy Sandbox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1. Counterfactual Simulation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Step 1: Baseline Load — Retrieves project's real ground-research vector from database.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Step 2: Baseline Inference — Runs Model B + TreeExplainer on unmodified project.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Step 3: User Intervention — Official adjusts specific friction parameters (e.g. resolve land dispute, clear billing mismatch).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Step 4: Simulated Inference — Runs Model B + TreeExplainer on counterfactual project.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Step 5: Quantified Delta — System returns exact Risk Score Delta (ΔRisk) and updated SHAP attribution distribution.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2. Case Study: NH-4471 Highway Intervention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F4444"/>
                </a:solidFill>
              </a:defRPr>
            </a:pPr>
            <a:r>
              <a:t>Baseline Assessment:</a:t>
            </a:r>
          </a:p>
          <a:p>
            <a:pPr>
              <a:spcAft>
                <a:spcPts val="1200"/>
              </a:spcAft>
              <a:defRPr sz="1150">
                <a:solidFill>
                  <a:srgbClr val="94A3B8"/>
                </a:solidFill>
              </a:defRPr>
            </a:pPr>
            <a:r>
              <a:t>• Risk Score: 95 / 100  |  Status: High Critical</a:t>
            </a:r>
            <a:br/>
            <a:r>
              <a:t>• Top Driver: Billing Mismatch (37.5%) + RoW Dispute</a:t>
            </a:r>
            <a:br/>
            <a:r>
              <a:t>• Time Overrun Probability: 99.6%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Simulated Intervention:</a:t>
            </a:r>
          </a:p>
          <a:p>
            <a:pPr>
              <a:spcAft>
                <a:spcPts val="1200"/>
              </a:spcAft>
              <a:defRPr sz="1150">
                <a:solidFill>
                  <a:srgbClr val="94A3B8"/>
                </a:solidFill>
              </a:defRPr>
            </a:pPr>
            <a:r>
              <a:t>• Intervene on: Payment delay cut to 10 days</a:t>
            </a:r>
            <a:br/>
            <a:r>
              <a:t>• Intervene on: Land Clearance set to 'Clear'</a:t>
            </a:r>
            <a:br/>
            <a:r>
              <a:t>• Intervene on: Billing mismatch audited down to 2%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Counterfactual Result: Risk drops 95 -&gt; 71 pts (Improved!)</a:t>
            </a:r>
            <a:br/>
            <a:r>
              <a:t>Administration validates exactly which intervention delivers maximum risk reduction before spending public money.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PAIMANA AI · SMART INDIA HACKATHON 26103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Billing Alerts &amp; Fraud Prevention: Enforcing Clause 14.2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Financial Disbursement vs Ground Progress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The Core Financial Risk: </a:t>
            </a:r>
            <a:r>
              <a:rPr sz="1300">
                <a:solidFill>
                  <a:srgbClr val="F8FAFC"/>
                </a:solidFill>
              </a:rPr>
              <a:t>Concessionaires submitting inflated Running Account (RA) bills claiming milestone completion before third-party physical cross-section verification.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Billing Progress Mismatch Formula: </a:t>
            </a:r>
            <a:r>
              <a:rPr sz="1300">
                <a:solidFill>
                  <a:srgbClr val="F8FAFC"/>
                </a:solidFill>
              </a:rPr>
              <a:t>Mismatch % = [(Total Claimed - Expected Physical) / Expected Physical] * 100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Automated Trigger 1 (&gt;10% Mismatch): </a:t>
            </a:r>
            <a:r>
              <a:rPr sz="1300">
                <a:solidFill>
                  <a:srgbClr val="F8FAFC"/>
                </a:solidFill>
              </a:rPr>
              <a:t>System issues an amber financial warning to the Project Director.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Automated Trigger 2 (&gt;25% Mismatch): </a:t>
            </a:r>
            <a:r>
              <a:rPr sz="1300">
                <a:solidFill>
                  <a:srgbClr val="F8FAFC"/>
                </a:solidFill>
              </a:rPr>
              <a:t>System automatically flags the project in MoSPI dashboard, applies Clause 14.2 disbursement freeze recommendation, and forces an emergency on-site joint re-measurement audit.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Impact on ML Risk Engine: </a:t>
            </a:r>
            <a:r>
              <a:rPr sz="1300">
                <a:solidFill>
                  <a:srgbClr val="F8FAFC"/>
                </a:solidFill>
              </a:rPr>
              <a:t>Billing progress mismatch directly feeds Model B feature vectors, instantly raising risk score and triggering SHAP factor escalation.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PAIMANA AI · SMART INDIA HACKATHON 26103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Field Officer View: Ground Telemetry &amp; Mobile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1. On-Site Inspection Intake (/field-entry)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Work Status Logging: One-tap toggle for Running (Green), Stalled (Red), or Off (Gray).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Standardized Delay Taxonomy: Land Dispute, Monsoon Flooding, Material Shortage, Contractor Cashflow, Subcontractor Wage Strike, or Design Change.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Material Stockpile Tracking: Daily logs of cement bags, structural steel tonnage, and coarse aggregate on site.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Geotagged Photo Proof: Attaches camera photo with exact chainage marker (e.g. Km 44.200 - Pier 12) and inspection timestamp.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Today's Tasks (/field-tasks): Action checklist for mandatory joint measurements and slump tests.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2. Offline-First Resilience &amp;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Zero Connectivity Blackout Protection: Remote mountain passes and rail cuts lose cellular connectivity regularly.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Local Storage Engine: When offline, submissions are instantly serialized into device localStorage (paimana_submissions).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Visual Offline Banner: Alerts the site officer that telemetry is safely stored locally on device.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Automatic Cloud Sync: Device automatically flushes queued submissions to Supabase PostgreSQL as soon as network reconnects.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Compliance Grading: Dynamically calculates inspection streak and letter grade (A+, A, B, C, Critical).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PAIMANA AI · SMART INDIA HACKATHON 26103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Data Governance &amp; Rigorous Synthetic Calibration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Ethical AI &amp; MoSPI-Aggregate Calibration Disclosure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F59E0B"/>
                </a:solidFill>
              </a:rPr>
              <a:t>Classified Data Boundary: </a:t>
            </a:r>
            <a:r>
              <a:rPr sz="1250">
                <a:solidFill>
                  <a:srgbClr val="F8FAFC"/>
                </a:solidFill>
              </a:rPr>
              <a:t>Real row-level PAIMANA government infrastructure project telemetry and dispute documentation are restricted under Government of India data governance protocols.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59E0B"/>
                </a:solidFill>
              </a:rPr>
              <a:t>5,000-Project Calibrated Dataset: </a:t>
            </a:r>
            <a:r>
              <a:rPr sz="1250">
                <a:solidFill>
                  <a:srgbClr val="F8FAFC"/>
                </a:solidFill>
              </a:rPr>
              <a:t>Model B was trained on an empirical synthetic dataset generated by ml/generate_dataset.py, calibrated strictly to MoSPI's published quarterly aggregate statistics: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59E0B"/>
                </a:solidFill>
              </a:rPr>
              <a:t>  • Capital Distribution: </a:t>
            </a:r>
            <a:r>
              <a:rPr sz="1250">
                <a:solidFill>
                  <a:srgbClr val="F8FAFC"/>
                </a:solidFill>
              </a:rPr>
              <a:t>Power-law and log-normal distributions mirroring central sector packages (&gt;= ₹150 Cr).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59E0B"/>
                </a:solidFill>
              </a:rPr>
              <a:t>  • Historical Delay Rates: </a:t>
            </a:r>
            <a:r>
              <a:rPr sz="1250">
                <a:solidFill>
                  <a:srgbClr val="F8FAFC"/>
                </a:solidFill>
              </a:rPr>
              <a:t>Calibrated to historical MoSPI flash report averages (~44% delay incidence).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59E0B"/>
                </a:solidFill>
              </a:rPr>
              <a:t>  • Sector Proportions: </a:t>
            </a:r>
            <a:r>
              <a:rPr sz="1250">
                <a:solidFill>
                  <a:srgbClr val="F8FAFC"/>
                </a:solidFill>
              </a:rPr>
              <a:t>Highways, Railways, Bridges, and Power sampled proportional to national pipeline budgets.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59E0B"/>
                </a:solidFill>
              </a:rPr>
              <a:t>Model Card Documentation: </a:t>
            </a:r>
            <a:r>
              <a:rPr sz="1250">
                <a:solidFill>
                  <a:srgbClr val="F8FAFC"/>
                </a:solidFill>
              </a:rPr>
              <a:t>Full disclosure on model performance, feature distributions, and ethical limitations documented in model_card.md.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59E0B"/>
                </a:solidFill>
              </a:rPr>
              <a:t>Two-Tier Resolution: </a:t>
            </a:r>
            <a:r>
              <a:rPr sz="1250">
                <a:solidFill>
                  <a:srgbClr val="F8FAFC"/>
                </a:solidFill>
              </a:rPr>
              <a:t>When live projects are created in Supabase, the engine dynamically ingests their live telemetry without requiring model retraining.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PAIMANA AI · SMART INDIA HACKATHON 26103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Conclusion: Transforming National Infrastructure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Public Capital Safeguard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Eliminates premature RA bill disbursement leakage.</a:t>
            </a:r>
            <a:br/>
            <a:br/>
            <a:r>
              <a:t>• Enforces Clause 14.2 financial discipline.</a:t>
            </a:r>
            <a:br/>
            <a:br/>
            <a:r>
              <a:t>• Saves hundreds of crores in unnecessary cost escalation claims.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Anticipatory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Moves MoSPI from 30-day lag to real-time predictive risk.</a:t>
            </a:r>
            <a:br/>
            <a:br/>
            <a:r>
              <a:t>• Identifies Right-of-Way and utility disputes months before work halts.</a:t>
            </a:r>
            <a:br/>
            <a:br/>
            <a:r>
              <a:t>• Recommends specific administrative interventions.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Ready for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Production-ready Supabase PostgreSQL backend.</a:t>
            </a:r>
            <a:br/>
            <a:br/>
            <a:r>
              <a:t>• Offline-first mobile field logging.</a:t>
            </a:r>
            <a:br/>
            <a:br/>
            <a:r>
              <a:t>• Scalable FastAPI ML inference service.</a:t>
            </a:r>
            <a:br/>
            <a:br/>
            <a:r>
              <a:t>• Ready for immediate pilot deployment across IPMD central projects.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